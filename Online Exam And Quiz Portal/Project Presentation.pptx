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Quattrocent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-regular.fntdata"/><Relationship Id="rId14" Type="http://schemas.openxmlformats.org/officeDocument/2006/relationships/slide" Target="slides/slide10.xml"/><Relationship Id="rId16" Type="http://schemas.openxmlformats.org/officeDocument/2006/relationships/font" Target="fonts/Quattrocen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10" Type="http://schemas.openxmlformats.org/officeDocument/2006/relationships/image" Target="../media/image22.png"/><Relationship Id="rId9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33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9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324124" y="1678424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400"/>
              <a:buFont typeface="Quattrocento"/>
              <a:buNone/>
            </a:pPr>
            <a:r>
              <a:rPr b="0" i="0" lang="en-US" sz="44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Online Examination System (ExamZone)</a:t>
            </a:r>
            <a:endParaRPr b="0" i="0" sz="44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324124" y="3445431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Secure, Scalable &amp; Automated Assessment Platform</a:t>
            </a:r>
            <a:endParaRPr b="0" i="0" sz="18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324124" y="4097655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Presented by:</a:t>
            </a:r>
            <a:endParaRPr b="0" i="0" sz="185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6324124" y="4749879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Ayesha Usman (BSSE23031) , Laiba Alam (BSSE23061) ,                Rozalia Sheraz (BSSE23093)</a:t>
            </a:r>
            <a:endParaRPr b="0" i="0" sz="185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6324124" y="5785128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Technologies: HTML, CSS, JavaScript, Node.js, AWS (Lambda, DynamoDB, API Gateway)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549116" y="551855"/>
            <a:ext cx="5278874" cy="46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2900"/>
              <a:buFont typeface="Quattrocento"/>
              <a:buNone/>
            </a:pPr>
            <a:r>
              <a:rPr b="0" i="0" lang="en-US" sz="29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Executive Summary: ExamZone</a:t>
            </a:r>
            <a:endParaRPr b="0" i="0" sz="29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549116" y="1248608"/>
            <a:ext cx="8045768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ExamZone automates quizzes and exams for educational institutions, ensuring fair, fast, and reliable assessment.</a:t>
            </a:r>
            <a:endParaRPr b="0" i="0" sz="12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549116" y="1911310"/>
            <a:ext cx="8045768" cy="1147524"/>
          </a:xfrm>
          <a:prstGeom prst="roundRect">
            <a:avLst>
              <a:gd fmla="val 9562" name="adj"/>
            </a:avLst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49116" y="1888450"/>
            <a:ext cx="8045768" cy="91440"/>
          </a:xfrm>
          <a:prstGeom prst="roundRect">
            <a:avLst>
              <a:gd fmla="val 25740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336673" y="1676043"/>
            <a:ext cx="470654" cy="470654"/>
          </a:xfrm>
          <a:prstGeom prst="roundRect">
            <a:avLst>
              <a:gd fmla="val 194283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4477881" y="1793677"/>
            <a:ext cx="188238" cy="235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  <a:endParaRPr b="0" i="0" sz="14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28782" y="2303502"/>
            <a:ext cx="1845945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Secure Roles</a:t>
            </a:r>
            <a:endParaRPr b="0" i="0" sz="14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28782" y="2628186"/>
            <a:ext cx="7686437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 and teacher access.</a:t>
            </a:r>
            <a:endParaRPr b="0" i="0" sz="12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549116" y="3450908"/>
            <a:ext cx="8045768" cy="1147524"/>
          </a:xfrm>
          <a:prstGeom prst="roundRect">
            <a:avLst>
              <a:gd fmla="val 9562" name="adj"/>
            </a:avLst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549116" y="3428048"/>
            <a:ext cx="8045768" cy="91440"/>
          </a:xfrm>
          <a:prstGeom prst="roundRect">
            <a:avLst>
              <a:gd fmla="val 25740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4336673" y="3215640"/>
            <a:ext cx="470654" cy="470654"/>
          </a:xfrm>
          <a:prstGeom prst="roundRect">
            <a:avLst>
              <a:gd fmla="val 194283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4477881" y="3333274"/>
            <a:ext cx="188238" cy="235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  <a:endParaRPr b="0" i="0" sz="145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728782" y="3843099"/>
            <a:ext cx="1845945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Timer-Based</a:t>
            </a:r>
            <a:endParaRPr b="0" i="0" sz="145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728782" y="4167783"/>
            <a:ext cx="7686437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Exams and quizzes.</a:t>
            </a:r>
            <a:endParaRPr b="0" i="0" sz="12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549116" y="4990505"/>
            <a:ext cx="8045768" cy="1147524"/>
          </a:xfrm>
          <a:prstGeom prst="roundRect">
            <a:avLst>
              <a:gd fmla="val 9562" name="adj"/>
            </a:avLst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549116" y="4967645"/>
            <a:ext cx="8045768" cy="91440"/>
          </a:xfrm>
          <a:prstGeom prst="roundRect">
            <a:avLst>
              <a:gd fmla="val 25740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4336673" y="4755237"/>
            <a:ext cx="470654" cy="470654"/>
          </a:xfrm>
          <a:prstGeom prst="roundRect">
            <a:avLst>
              <a:gd fmla="val 194283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4477881" y="4872871"/>
            <a:ext cx="188238" cy="235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  <a:endParaRPr b="0" i="0" sz="145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728782" y="5382697"/>
            <a:ext cx="1845945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Auto Results</a:t>
            </a:r>
            <a:endParaRPr b="0" i="0" sz="145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728782" y="5707380"/>
            <a:ext cx="7686437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Automatic generation.</a:t>
            </a:r>
            <a:endParaRPr b="0" i="0" sz="120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549116" y="6530102"/>
            <a:ext cx="8045768" cy="1147524"/>
          </a:xfrm>
          <a:prstGeom prst="roundRect">
            <a:avLst>
              <a:gd fmla="val 9562" name="adj"/>
            </a:avLst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549116" y="6507242"/>
            <a:ext cx="8045768" cy="91440"/>
          </a:xfrm>
          <a:prstGeom prst="roundRect">
            <a:avLst>
              <a:gd fmla="val 25740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4336673" y="6294834"/>
            <a:ext cx="470654" cy="470654"/>
          </a:xfrm>
          <a:prstGeom prst="roundRect">
            <a:avLst>
              <a:gd fmla="val 194283" name="adj"/>
            </a:avLst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4477881" y="6412468"/>
            <a:ext cx="188238" cy="235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4</a:t>
            </a:r>
            <a:endParaRPr b="0" i="0" sz="1450" u="none" cap="none" strike="noStrike"/>
          </a:p>
        </p:txBody>
      </p:sp>
      <p:sp>
        <p:nvSpPr>
          <p:cNvPr id="92" name="Google Shape;92;p14"/>
          <p:cNvSpPr/>
          <p:nvPr/>
        </p:nvSpPr>
        <p:spPr>
          <a:xfrm>
            <a:off x="728782" y="6922294"/>
            <a:ext cx="1845945" cy="23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Cloud Backend</a:t>
            </a:r>
            <a:endParaRPr b="0" i="0" sz="1450" u="none" cap="none" strike="noStrike"/>
          </a:p>
        </p:txBody>
      </p:sp>
      <p:sp>
        <p:nvSpPr>
          <p:cNvPr id="93" name="Google Shape;93;p14"/>
          <p:cNvSpPr/>
          <p:nvPr/>
        </p:nvSpPr>
        <p:spPr>
          <a:xfrm>
            <a:off x="728782" y="7246977"/>
            <a:ext cx="7686437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Powered by AWS.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6227564" y="608052"/>
            <a:ext cx="7498794" cy="622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3900"/>
              <a:buFont typeface="Quattrocento"/>
              <a:buNone/>
            </a:pPr>
            <a:r>
              <a:rPr b="0" i="0" lang="en-US" sz="39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Challenges of Traditional Systems</a:t>
            </a:r>
            <a:endParaRPr b="0" i="0" sz="39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6227564" y="1548408"/>
            <a:ext cx="22860" cy="6073021"/>
          </a:xfrm>
          <a:prstGeom prst="roundRect">
            <a:avLst>
              <a:gd fmla="val 138953" name="adj"/>
            </a:avLst>
          </a:pr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250424" y="1548408"/>
            <a:ext cx="7661672" cy="1200626"/>
          </a:xfrm>
          <a:prstGeom prst="rect">
            <a:avLst/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462117" y="1760101"/>
            <a:ext cx="3652004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50"/>
              <a:buFont typeface="Quattrocento"/>
              <a:buNone/>
            </a:pPr>
            <a:r>
              <a:rPr b="0" i="0" lang="en-US" sz="19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Time-Consuming &amp; Error-Prone</a:t>
            </a:r>
            <a:endParaRPr b="0" i="0" sz="195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6462117" y="2198489"/>
            <a:ext cx="7238286" cy="338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50"/>
              <a:buFont typeface="Quattrocento"/>
              <a:buNone/>
            </a:pPr>
            <a:r>
              <a:rPr b="0" i="0" lang="en-US" sz="16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Manual checking leads to delays and mistakes.</a:t>
            </a:r>
            <a:endParaRPr b="0" i="0" sz="165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6250424" y="3172539"/>
            <a:ext cx="7661672" cy="1200626"/>
          </a:xfrm>
          <a:prstGeom prst="rect">
            <a:avLst/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6462117" y="3384232"/>
            <a:ext cx="2491264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50"/>
              <a:buFont typeface="Quattrocento"/>
              <a:buNone/>
            </a:pPr>
            <a:r>
              <a:rPr b="0" i="0" lang="en-US" sz="19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Lack of Monitoring</a:t>
            </a:r>
            <a:endParaRPr b="0" i="0" sz="1950" u="none" cap="none" strike="noStrike"/>
          </a:p>
        </p:txBody>
      </p:sp>
      <p:sp>
        <p:nvSpPr>
          <p:cNvPr id="107" name="Google Shape;107;p15"/>
          <p:cNvSpPr/>
          <p:nvPr/>
        </p:nvSpPr>
        <p:spPr>
          <a:xfrm>
            <a:off x="6462117" y="3822621"/>
            <a:ext cx="7238286" cy="338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50"/>
              <a:buFont typeface="Quattrocento"/>
              <a:buNone/>
            </a:pPr>
            <a:r>
              <a:rPr b="0" i="0" lang="en-US" sz="16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No real-time exam oversight.</a:t>
            </a:r>
            <a:endParaRPr b="0" i="0" sz="16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6250424" y="4796671"/>
            <a:ext cx="7661672" cy="1200626"/>
          </a:xfrm>
          <a:prstGeom prst="rect">
            <a:avLst/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462117" y="5008364"/>
            <a:ext cx="2572345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50"/>
              <a:buFont typeface="Quattrocento"/>
              <a:buNone/>
            </a:pPr>
            <a:r>
              <a:rPr b="0" i="0" lang="en-US" sz="19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Management Difficulty</a:t>
            </a:r>
            <a:endParaRPr b="0" i="0" sz="1950" u="none" cap="none" strike="noStrike"/>
          </a:p>
        </p:txBody>
      </p:sp>
      <p:sp>
        <p:nvSpPr>
          <p:cNvPr id="110" name="Google Shape;110;p15"/>
          <p:cNvSpPr/>
          <p:nvPr/>
        </p:nvSpPr>
        <p:spPr>
          <a:xfrm>
            <a:off x="6462117" y="5446752"/>
            <a:ext cx="7238286" cy="338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50"/>
              <a:buFont typeface="Quattrocento"/>
              <a:buNone/>
            </a:pPr>
            <a:r>
              <a:rPr b="0" i="0" lang="en-US" sz="16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Struggles with large student numbers.</a:t>
            </a:r>
            <a:endParaRPr b="0" i="0" sz="165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6250424" y="6420803"/>
            <a:ext cx="7661672" cy="1200626"/>
          </a:xfrm>
          <a:prstGeom prst="rect">
            <a:avLst/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462117" y="6632496"/>
            <a:ext cx="2491264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50"/>
              <a:buFont typeface="Quattrocento"/>
              <a:buNone/>
            </a:pPr>
            <a:r>
              <a:rPr b="0" i="0" lang="en-US" sz="19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Poor Security</a:t>
            </a:r>
            <a:endParaRPr b="0" i="0" sz="1950" u="none" cap="none" strike="noStrike"/>
          </a:p>
        </p:txBody>
      </p:sp>
      <p:sp>
        <p:nvSpPr>
          <p:cNvPr id="113" name="Google Shape;113;p15"/>
          <p:cNvSpPr/>
          <p:nvPr/>
        </p:nvSpPr>
        <p:spPr>
          <a:xfrm>
            <a:off x="6462117" y="7070884"/>
            <a:ext cx="7238286" cy="338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50"/>
              <a:buFont typeface="Quattrocento"/>
              <a:buNone/>
            </a:pPr>
            <a:r>
              <a:rPr b="0" i="0" lang="en-US" sz="16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Vulnerable data handling.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757118" y="594836"/>
            <a:ext cx="5645825" cy="636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000"/>
              <a:buFont typeface="Quattrocento"/>
              <a:buNone/>
            </a:pPr>
            <a:r>
              <a:rPr b="0" i="0" lang="en-US" sz="40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ExamZone: Our Solution</a:t>
            </a:r>
            <a:endParaRPr b="0" i="0" sz="4000" u="none" cap="none" strike="noStrike"/>
          </a:p>
        </p:txBody>
      </p:sp>
      <p:sp>
        <p:nvSpPr>
          <p:cNvPr id="120" name="Google Shape;120;p16"/>
          <p:cNvSpPr/>
          <p:nvPr/>
        </p:nvSpPr>
        <p:spPr>
          <a:xfrm>
            <a:off x="757118" y="1771769"/>
            <a:ext cx="3054191" cy="381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2400"/>
              <a:buFont typeface="Quattrocento"/>
              <a:buNone/>
            </a:pPr>
            <a:r>
              <a:rPr b="0" i="0" lang="en-US" sz="24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Automated &amp; Secure</a:t>
            </a:r>
            <a:endParaRPr b="0" i="0" sz="240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757118" y="2369820"/>
            <a:ext cx="6294239" cy="34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Char char="•"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Automates exam creation, attempt, and evaluation.</a:t>
            </a:r>
            <a:endParaRPr b="0" i="0" sz="1700" u="none" cap="none" strike="noStrike"/>
          </a:p>
        </p:txBody>
      </p:sp>
      <p:sp>
        <p:nvSpPr>
          <p:cNvPr id="122" name="Google Shape;122;p16"/>
          <p:cNvSpPr/>
          <p:nvPr/>
        </p:nvSpPr>
        <p:spPr>
          <a:xfrm>
            <a:off x="757118" y="2791539"/>
            <a:ext cx="6294239" cy="34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Char char="•"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Keyword-based auto-checking for subjective exams.</a:t>
            </a:r>
            <a:endParaRPr b="0" i="0" sz="1700" u="none" cap="none" strike="noStrike"/>
          </a:p>
        </p:txBody>
      </p:sp>
      <p:sp>
        <p:nvSpPr>
          <p:cNvPr id="123" name="Google Shape;123;p16"/>
          <p:cNvSpPr/>
          <p:nvPr/>
        </p:nvSpPr>
        <p:spPr>
          <a:xfrm>
            <a:off x="757118" y="3213259"/>
            <a:ext cx="6294239" cy="34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Char char="•"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Secure cloud storage for results.</a:t>
            </a:r>
            <a:endParaRPr b="0" i="0" sz="170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757118" y="3634978"/>
            <a:ext cx="6294239" cy="34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Char char="•"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Role-based access for students and teachers.</a:t>
            </a:r>
            <a:endParaRPr b="0" i="0" sz="1700" u="none" cap="none" strike="noStrike"/>
          </a:p>
        </p:txBody>
      </p:sp>
      <p:pic>
        <p:nvPicPr>
          <p:cNvPr descr="preencoded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6663" y="1798796"/>
            <a:ext cx="6294239" cy="6294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837724" y="1256348"/>
            <a:ext cx="7718822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400"/>
              <a:buFont typeface="Quattrocento"/>
              <a:buNone/>
            </a:pPr>
            <a:r>
              <a:rPr b="0" i="0" lang="en-US" sz="44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System Architecture Overview</a:t>
            </a:r>
            <a:endParaRPr b="0" i="0" sz="44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1872972" y="2756297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Frontend</a:t>
            </a:r>
            <a:endParaRPr b="0" i="0" sz="220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837724" y="3251835"/>
            <a:ext cx="3851434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HTML, CSS, JS for Student &amp; Teacher Dashboards, Timer-based exams.</a:t>
            </a:r>
            <a:endParaRPr b="0" i="0" sz="1850" u="none" cap="none" strike="noStrike"/>
          </a:p>
        </p:txBody>
      </p:sp>
      <p:pic>
        <p:nvPicPr>
          <p:cNvPr descr="preencoded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516" y="3228737"/>
            <a:ext cx="358140" cy="358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9941243" y="294786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Backend</a:t>
            </a:r>
            <a:endParaRPr b="0" i="0" sz="22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9941243" y="3443407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Node.js with AWS Lambda, REST APIs via API Gateway.</a:t>
            </a:r>
            <a:endParaRPr b="0" i="0" sz="1850" u="none" cap="none" strike="noStrike"/>
          </a:p>
        </p:txBody>
      </p:sp>
      <p:pic>
        <p:nvPicPr>
          <p:cNvPr descr="preencoded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4388" y="3614499"/>
            <a:ext cx="358140" cy="358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/>
          <p:nvPr/>
        </p:nvSpPr>
        <p:spPr>
          <a:xfrm>
            <a:off x="9941243" y="53943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Database</a:t>
            </a:r>
            <a:endParaRPr b="0" i="0" sz="2200" u="none" cap="none" strike="noStrike"/>
          </a:p>
        </p:txBody>
      </p:sp>
      <p:sp>
        <p:nvSpPr>
          <p:cNvPr id="141" name="Google Shape;141;p17"/>
          <p:cNvSpPr/>
          <p:nvPr/>
        </p:nvSpPr>
        <p:spPr>
          <a:xfrm>
            <a:off x="9941243" y="5889903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AWS DynamoDB stores users, exams, quizzes, and results.</a:t>
            </a:r>
            <a:endParaRPr b="0" i="0" sz="1850" u="none" cap="none" strike="noStrike"/>
          </a:p>
        </p:txBody>
      </p:sp>
      <p:pic>
        <p:nvPicPr>
          <p:cNvPr descr="preencoded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8625" y="5825371"/>
            <a:ext cx="358140" cy="358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1872972" y="53943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Security</a:t>
            </a:r>
            <a:endParaRPr b="0" i="0" sz="2200" u="none" cap="none" strike="noStrike"/>
          </a:p>
        </p:txBody>
      </p:sp>
      <p:sp>
        <p:nvSpPr>
          <p:cNvPr id="145" name="Google Shape;145;p17"/>
          <p:cNvSpPr/>
          <p:nvPr/>
        </p:nvSpPr>
        <p:spPr>
          <a:xfrm>
            <a:off x="837724" y="5889903"/>
            <a:ext cx="38514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IAM-based authentication, Role-based access control.</a:t>
            </a:r>
            <a:endParaRPr b="0" i="0" sz="1850" u="none" cap="none" strike="noStrike"/>
          </a:p>
        </p:txBody>
      </p:sp>
      <p:pic>
        <p:nvPicPr>
          <p:cNvPr descr="preencoded.png" id="146" name="Google Shape;14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8131" y="2439114"/>
            <a:ext cx="4534138" cy="453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7753" y="5439608"/>
            <a:ext cx="358140" cy="358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549354" y="431602"/>
            <a:ext cx="4313873" cy="461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2900"/>
              <a:buFont typeface="Quattrocento"/>
              <a:buNone/>
            </a:pPr>
            <a:r>
              <a:rPr b="0" i="0" lang="en-US" sz="29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Methodology &amp; Workflow</a:t>
            </a:r>
            <a:endParaRPr b="0" i="0" sz="2900" u="none" cap="none" strike="noStrike"/>
          </a:p>
        </p:txBody>
      </p:sp>
      <p:pic>
        <p:nvPicPr>
          <p:cNvPr descr="preencoded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354" y="1207056"/>
            <a:ext cx="784741" cy="94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1491020" y="1363980"/>
            <a:ext cx="184665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Teacher Creates</a:t>
            </a:r>
            <a:endParaRPr b="0" i="0" sz="1450" u="none" cap="none" strike="noStrike"/>
          </a:p>
        </p:txBody>
      </p:sp>
      <p:sp>
        <p:nvSpPr>
          <p:cNvPr id="156" name="Google Shape;156;p18"/>
          <p:cNvSpPr/>
          <p:nvPr/>
        </p:nvSpPr>
        <p:spPr>
          <a:xfrm>
            <a:off x="1491020" y="1688902"/>
            <a:ext cx="12590026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Quizzes/exams.</a:t>
            </a:r>
            <a:endParaRPr b="0" i="0" sz="1200" u="none" cap="none" strike="noStrike"/>
          </a:p>
        </p:txBody>
      </p:sp>
      <p:pic>
        <p:nvPicPr>
          <p:cNvPr descr="preencoded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354" y="2148840"/>
            <a:ext cx="784741" cy="94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1491020" y="2305764"/>
            <a:ext cx="184665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Data Stored</a:t>
            </a:r>
            <a:endParaRPr b="0" i="0" sz="1450" u="none" cap="none" strike="noStrike"/>
          </a:p>
        </p:txBody>
      </p:sp>
      <p:sp>
        <p:nvSpPr>
          <p:cNvPr id="159" name="Google Shape;159;p18"/>
          <p:cNvSpPr/>
          <p:nvPr/>
        </p:nvSpPr>
        <p:spPr>
          <a:xfrm>
            <a:off x="1491020" y="2630686"/>
            <a:ext cx="12590026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 DynamoDB.</a:t>
            </a:r>
            <a:endParaRPr b="0" i="0" sz="1200" u="none" cap="none" strike="noStrike"/>
          </a:p>
        </p:txBody>
      </p:sp>
      <p:pic>
        <p:nvPicPr>
          <p:cNvPr descr="preencoded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354" y="3090624"/>
            <a:ext cx="784741" cy="94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1491020" y="3247549"/>
            <a:ext cx="184665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 Logs In</a:t>
            </a:r>
            <a:endParaRPr b="0" i="0" sz="1450" u="none" cap="none" strike="noStrike"/>
          </a:p>
        </p:txBody>
      </p:sp>
      <p:sp>
        <p:nvSpPr>
          <p:cNvPr id="162" name="Google Shape;162;p18"/>
          <p:cNvSpPr/>
          <p:nvPr/>
        </p:nvSpPr>
        <p:spPr>
          <a:xfrm>
            <a:off x="1491020" y="3572470"/>
            <a:ext cx="12590026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Views available exams.</a:t>
            </a:r>
            <a:endParaRPr b="0" i="0" sz="1200" u="none" cap="none" strike="noStrike"/>
          </a:p>
        </p:txBody>
      </p:sp>
      <p:pic>
        <p:nvPicPr>
          <p:cNvPr descr="preencoded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9354" y="4032409"/>
            <a:ext cx="784741" cy="94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1491020" y="4189333"/>
            <a:ext cx="184665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Timer Starts</a:t>
            </a:r>
            <a:endParaRPr b="0" i="0" sz="145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1491020" y="4514255"/>
            <a:ext cx="12590026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When exam begins.</a:t>
            </a:r>
            <a:endParaRPr b="0" i="0" sz="1200" u="none" cap="none" strike="noStrike"/>
          </a:p>
        </p:txBody>
      </p:sp>
      <p:pic>
        <p:nvPicPr>
          <p:cNvPr descr="preencoded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354" y="4974193"/>
            <a:ext cx="784741" cy="94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>
            <a:off x="1491020" y="5131118"/>
            <a:ext cx="184665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 Submits</a:t>
            </a:r>
            <a:endParaRPr b="0" i="0" sz="145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1491020" y="5456039"/>
            <a:ext cx="12590026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Answers.</a:t>
            </a:r>
            <a:endParaRPr b="0" i="0" sz="1200" u="none" cap="none" strike="noStrike"/>
          </a:p>
        </p:txBody>
      </p:sp>
      <p:pic>
        <p:nvPicPr>
          <p:cNvPr descr="preencoded.png" id="169" name="Google Shape;16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9354" y="5915978"/>
            <a:ext cx="784741" cy="94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1491020" y="6072902"/>
            <a:ext cx="184665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System Evaluates</a:t>
            </a:r>
            <a:endParaRPr b="0" i="0" sz="145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1491020" y="6397823"/>
            <a:ext cx="12590026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Automatically.</a:t>
            </a:r>
            <a:endParaRPr b="0" i="0" sz="1200" u="none" cap="none" strike="noStrike"/>
          </a:p>
        </p:txBody>
      </p:sp>
      <p:pic>
        <p:nvPicPr>
          <p:cNvPr descr="preencoded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9354" y="6857762"/>
            <a:ext cx="784741" cy="94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1491020" y="7014686"/>
            <a:ext cx="184665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450"/>
              <a:buFont typeface="Quattrocento"/>
              <a:buNone/>
            </a:pPr>
            <a:r>
              <a:rPr b="0" i="0" lang="en-US" sz="14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Results Displayed</a:t>
            </a:r>
            <a:endParaRPr b="0" i="0" sz="145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1491020" y="7339608"/>
            <a:ext cx="12590026" cy="25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00"/>
              <a:buFont typeface="Quattrocento"/>
              <a:buNone/>
            </a:pPr>
            <a:r>
              <a:rPr b="0" i="0" lang="en-US" sz="1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Stored and shown.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573048" y="450175"/>
            <a:ext cx="4094440" cy="48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3000"/>
              <a:buFont typeface="Quattrocento"/>
              <a:buNone/>
            </a:pPr>
            <a:r>
              <a:rPr b="0" i="0" lang="en-US" sz="30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Implementation Details</a:t>
            </a:r>
            <a:endParaRPr b="0" i="0" sz="3000" u="none" cap="none" strike="noStrike"/>
          </a:p>
        </p:txBody>
      </p:sp>
      <p:sp>
        <p:nvSpPr>
          <p:cNvPr id="181" name="Google Shape;181;p19"/>
          <p:cNvSpPr/>
          <p:nvPr/>
        </p:nvSpPr>
        <p:spPr>
          <a:xfrm>
            <a:off x="573048" y="1341001"/>
            <a:ext cx="2311598" cy="28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1800"/>
              <a:buFont typeface="Quattrocento"/>
              <a:buNone/>
            </a:pPr>
            <a:r>
              <a:rPr b="0" i="0" lang="en-US" sz="18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 Module</a:t>
            </a:r>
            <a:endParaRPr b="0" i="0" sz="1800" u="none" cap="none" strike="noStrike"/>
          </a:p>
        </p:txBody>
      </p:sp>
      <p:sp>
        <p:nvSpPr>
          <p:cNvPr id="182" name="Google Shape;182;p19"/>
          <p:cNvSpPr/>
          <p:nvPr/>
        </p:nvSpPr>
        <p:spPr>
          <a:xfrm>
            <a:off x="573048" y="1793677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Secure login.</a:t>
            </a:r>
            <a:endParaRPr b="0" i="0" sz="1250" u="none" cap="none" strike="noStrike"/>
          </a:p>
        </p:txBody>
      </p:sp>
      <p:sp>
        <p:nvSpPr>
          <p:cNvPr id="183" name="Google Shape;183;p19"/>
          <p:cNvSpPr/>
          <p:nvPr/>
        </p:nvSpPr>
        <p:spPr>
          <a:xfrm>
            <a:off x="573048" y="2112883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Attempt quizzes &amp; exams.</a:t>
            </a:r>
            <a:endParaRPr b="0" i="0" sz="1250" u="none" cap="none" strike="noStrike"/>
          </a:p>
        </p:txBody>
      </p:sp>
      <p:sp>
        <p:nvSpPr>
          <p:cNvPr id="184" name="Google Shape;184;p19"/>
          <p:cNvSpPr/>
          <p:nvPr/>
        </p:nvSpPr>
        <p:spPr>
          <a:xfrm>
            <a:off x="573048" y="2432090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Timer-based submission.</a:t>
            </a:r>
            <a:endParaRPr b="0" i="0" sz="125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573048" y="2751296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View individual results.</a:t>
            </a:r>
            <a:endParaRPr b="0" i="0" sz="1250" u="none" cap="none" strike="noStrike"/>
          </a:p>
        </p:txBody>
      </p:sp>
      <p:sp>
        <p:nvSpPr>
          <p:cNvPr id="186" name="Google Shape;186;p19"/>
          <p:cNvSpPr/>
          <p:nvPr/>
        </p:nvSpPr>
        <p:spPr>
          <a:xfrm>
            <a:off x="573048" y="3176945"/>
            <a:ext cx="2311598" cy="28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1800"/>
              <a:buFont typeface="Quattrocento"/>
              <a:buNone/>
            </a:pPr>
            <a:r>
              <a:rPr b="0" i="0" lang="en-US" sz="18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Teacher Module</a:t>
            </a:r>
            <a:endParaRPr b="0" i="0" sz="1800" u="none" cap="none" strike="noStrike"/>
          </a:p>
        </p:txBody>
      </p:sp>
      <p:sp>
        <p:nvSpPr>
          <p:cNvPr id="187" name="Google Shape;187;p19"/>
          <p:cNvSpPr/>
          <p:nvPr/>
        </p:nvSpPr>
        <p:spPr>
          <a:xfrm>
            <a:off x="573048" y="3629620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Create exams &amp; quizzes.</a:t>
            </a:r>
            <a:endParaRPr b="0" i="0" sz="125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573048" y="3948827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View student performance.</a:t>
            </a:r>
            <a:endParaRPr b="0" i="0" sz="125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573048" y="4268033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Access exam-wise results.</a:t>
            </a:r>
            <a:endParaRPr b="0" i="0" sz="1250" u="none" cap="none" strike="noStrike"/>
          </a:p>
        </p:txBody>
      </p:sp>
      <p:pic>
        <p:nvPicPr>
          <p:cNvPr descr="preencoded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2488" y="1361480"/>
            <a:ext cx="6542484" cy="654248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7522488" y="8088154"/>
            <a:ext cx="2311598" cy="28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1800"/>
              <a:buFont typeface="Quattrocento"/>
              <a:buNone/>
            </a:pPr>
            <a:r>
              <a:rPr b="0" i="0" lang="en-US" sz="18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Auto-Evaluation</a:t>
            </a:r>
            <a:endParaRPr b="0" i="0" sz="1800" u="none" cap="none" strike="noStrike"/>
          </a:p>
        </p:txBody>
      </p:sp>
      <p:sp>
        <p:nvSpPr>
          <p:cNvPr id="192" name="Google Shape;192;p19"/>
          <p:cNvSpPr/>
          <p:nvPr/>
        </p:nvSpPr>
        <p:spPr>
          <a:xfrm>
            <a:off x="7522488" y="8540829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MCQ-based auto checking for quizzes.</a:t>
            </a:r>
            <a:endParaRPr b="0" i="0" sz="125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7522488" y="8860036"/>
            <a:ext cx="65424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250"/>
              <a:buFont typeface="Quattrocento"/>
              <a:buChar char="•"/>
            </a:pPr>
            <a:r>
              <a:rPr b="0" i="0" lang="en-US" sz="1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Keyword-based subjective marking for exams.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837724" y="1854994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400"/>
              <a:buFont typeface="Quattrocento"/>
              <a:buNone/>
            </a:pPr>
            <a:r>
              <a:rPr b="0" i="0" lang="en-US" sz="44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Results &amp; Outcomes</a:t>
            </a:r>
            <a:endParaRPr b="0" i="0" sz="4400" u="none" cap="none" strike="noStrike"/>
          </a:p>
        </p:txBody>
      </p:sp>
      <p:sp>
        <p:nvSpPr>
          <p:cNvPr id="200" name="Google Shape;200;p20"/>
          <p:cNvSpPr/>
          <p:nvPr/>
        </p:nvSpPr>
        <p:spPr>
          <a:xfrm>
            <a:off x="837724" y="3037761"/>
            <a:ext cx="4158734" cy="1740218"/>
          </a:xfrm>
          <a:prstGeom prst="roundRect">
            <a:avLst>
              <a:gd fmla="val 33014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077039" y="327707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Instant Results</a:t>
            </a:r>
            <a:endParaRPr b="0" i="0" sz="2200" u="none" cap="none" strike="noStrike"/>
          </a:p>
        </p:txBody>
      </p:sp>
      <p:sp>
        <p:nvSpPr>
          <p:cNvPr id="202" name="Google Shape;202;p20"/>
          <p:cNvSpPr/>
          <p:nvPr/>
        </p:nvSpPr>
        <p:spPr>
          <a:xfrm>
            <a:off x="1077039" y="3772614"/>
            <a:ext cx="368010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Accurate and immediate generation.</a:t>
            </a:r>
            <a:endParaRPr b="0" i="0" sz="1850" u="none" cap="none" strike="noStrike"/>
          </a:p>
        </p:txBody>
      </p:sp>
      <p:sp>
        <p:nvSpPr>
          <p:cNvPr id="203" name="Google Shape;203;p20"/>
          <p:cNvSpPr/>
          <p:nvPr/>
        </p:nvSpPr>
        <p:spPr>
          <a:xfrm>
            <a:off x="5235773" y="3037761"/>
            <a:ext cx="4158734" cy="1740218"/>
          </a:xfrm>
          <a:prstGeom prst="roundRect">
            <a:avLst>
              <a:gd fmla="val 33014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475089" y="327707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Reduced Workload</a:t>
            </a:r>
            <a:endParaRPr b="0" i="0" sz="2200" u="none" cap="none" strike="noStrike"/>
          </a:p>
        </p:txBody>
      </p:sp>
      <p:sp>
        <p:nvSpPr>
          <p:cNvPr id="205" name="Google Shape;205;p20"/>
          <p:cNvSpPr/>
          <p:nvPr/>
        </p:nvSpPr>
        <p:spPr>
          <a:xfrm>
            <a:off x="5475089" y="3772614"/>
            <a:ext cx="368010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Less manual effort for teachers.</a:t>
            </a:r>
            <a:endParaRPr b="0" i="0" sz="185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9633823" y="3037761"/>
            <a:ext cx="4158853" cy="1740218"/>
          </a:xfrm>
          <a:prstGeom prst="roundRect">
            <a:avLst>
              <a:gd fmla="val 33014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9873139" y="327707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Secure Data</a:t>
            </a:r>
            <a:endParaRPr b="0" i="0" sz="2200" u="none" cap="none" strike="noStrike"/>
          </a:p>
        </p:txBody>
      </p:sp>
      <p:sp>
        <p:nvSpPr>
          <p:cNvPr id="208" name="Google Shape;208;p20"/>
          <p:cNvSpPr/>
          <p:nvPr/>
        </p:nvSpPr>
        <p:spPr>
          <a:xfrm>
            <a:off x="9873139" y="3772614"/>
            <a:ext cx="368022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Protected student information.</a:t>
            </a:r>
            <a:endParaRPr b="0" i="0" sz="1850" u="none" cap="none" strike="noStrike"/>
          </a:p>
        </p:txBody>
      </p:sp>
      <p:sp>
        <p:nvSpPr>
          <p:cNvPr id="209" name="Google Shape;209;p20"/>
          <p:cNvSpPr/>
          <p:nvPr/>
        </p:nvSpPr>
        <p:spPr>
          <a:xfrm>
            <a:off x="837724" y="5017294"/>
            <a:ext cx="6357818" cy="1357193"/>
          </a:xfrm>
          <a:prstGeom prst="roundRect">
            <a:avLst>
              <a:gd fmla="val 42331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1077039" y="525660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Fair Evaluation</a:t>
            </a:r>
            <a:endParaRPr b="0" i="0" sz="220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1077039" y="5752147"/>
            <a:ext cx="58791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Through automation.</a:t>
            </a:r>
            <a:endParaRPr b="0" i="0" sz="185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7434858" y="5017294"/>
            <a:ext cx="6357818" cy="1357193"/>
          </a:xfrm>
          <a:prstGeom prst="roundRect">
            <a:avLst>
              <a:gd fmla="val 42331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674173" y="525660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Scalable System</a:t>
            </a:r>
            <a:endParaRPr b="0" i="0" sz="2200" u="none" cap="none" strike="noStrike"/>
          </a:p>
        </p:txBody>
      </p:sp>
      <p:sp>
        <p:nvSpPr>
          <p:cNvPr id="214" name="Google Shape;214;p20"/>
          <p:cNvSpPr/>
          <p:nvPr/>
        </p:nvSpPr>
        <p:spPr>
          <a:xfrm>
            <a:off x="7674173" y="5752147"/>
            <a:ext cx="58791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Efficiently handles multiple students and exams.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/>
          <p:nvPr/>
        </p:nvSpPr>
        <p:spPr>
          <a:xfrm>
            <a:off x="837724" y="2579013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400"/>
              <a:buFont typeface="Quattrocento"/>
              <a:buNone/>
            </a:pPr>
            <a:r>
              <a:rPr b="0" i="0" lang="en-US" sz="44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Conclusion: ExamZone's Impact</a:t>
            </a:r>
            <a:endParaRPr b="0" i="0" sz="4400" u="none" cap="none" strike="noStrike"/>
          </a:p>
        </p:txBody>
      </p:sp>
      <p:sp>
        <p:nvSpPr>
          <p:cNvPr id="222" name="Google Shape;222;p21"/>
          <p:cNvSpPr/>
          <p:nvPr/>
        </p:nvSpPr>
        <p:spPr>
          <a:xfrm>
            <a:off x="1196697" y="4615220"/>
            <a:ext cx="7109579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ExamZone provides a reliable, secure, and automated examination platform suitable for modern education systems.</a:t>
            </a:r>
            <a:endParaRPr b="0" i="0" sz="1850" u="none" cap="none" strike="noStrike"/>
          </a:p>
        </p:txBody>
      </p:sp>
      <p:sp>
        <p:nvSpPr>
          <p:cNvPr id="223" name="Google Shape;223;p21"/>
          <p:cNvSpPr/>
          <p:nvPr/>
        </p:nvSpPr>
        <p:spPr>
          <a:xfrm>
            <a:off x="837724" y="4346019"/>
            <a:ext cx="30480" cy="1304449"/>
          </a:xfrm>
          <a:prstGeom prst="rect">
            <a:avLst/>
          </a:prstGeom>
          <a:solidFill>
            <a:srgbClr val="EF9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837724" y="1265753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400"/>
              <a:buFont typeface="Quattrocento"/>
              <a:buNone/>
            </a:pPr>
            <a:r>
              <a:rPr b="0" i="0" lang="en-US" sz="44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Future Enhancements</a:t>
            </a:r>
            <a:endParaRPr b="0" i="0" sz="4400" u="none" cap="none" strike="noStrike"/>
          </a:p>
        </p:txBody>
      </p:sp>
      <p:pic>
        <p:nvPicPr>
          <p:cNvPr descr="preencoded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448520"/>
            <a:ext cx="3014305" cy="301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/>
          <p:nvPr/>
        </p:nvSpPr>
        <p:spPr>
          <a:xfrm>
            <a:off x="837724" y="570214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 Evaluation</a:t>
            </a:r>
            <a:endParaRPr b="0" i="0" sz="2200" u="none" cap="none" strike="noStrike"/>
          </a:p>
        </p:txBody>
      </p:sp>
      <p:sp>
        <p:nvSpPr>
          <p:cNvPr id="232" name="Google Shape;232;p22"/>
          <p:cNvSpPr/>
          <p:nvPr/>
        </p:nvSpPr>
        <p:spPr>
          <a:xfrm>
            <a:off x="837724" y="6197679"/>
            <a:ext cx="301430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AI-based answer evaluation.</a:t>
            </a:r>
            <a:endParaRPr b="0" i="0" sz="1850" u="none" cap="none" strike="noStrike"/>
          </a:p>
        </p:txBody>
      </p:sp>
      <p:pic>
        <p:nvPicPr>
          <p:cNvPr descr="preencoded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1233" y="2448520"/>
            <a:ext cx="3014305" cy="301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4151233" y="570214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Advanced Analytics</a:t>
            </a:r>
            <a:endParaRPr b="0" i="0" sz="2200" u="none" cap="none" strike="noStrike"/>
          </a:p>
        </p:txBody>
      </p:sp>
      <p:sp>
        <p:nvSpPr>
          <p:cNvPr id="235" name="Google Shape;235;p22"/>
          <p:cNvSpPr/>
          <p:nvPr/>
        </p:nvSpPr>
        <p:spPr>
          <a:xfrm>
            <a:off x="4151233" y="6197679"/>
            <a:ext cx="301430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Comprehensive dashboards.</a:t>
            </a:r>
            <a:endParaRPr b="0" i="0" sz="1850" u="none" cap="none" strike="noStrike"/>
          </a:p>
        </p:txBody>
      </p:sp>
      <p:pic>
        <p:nvPicPr>
          <p:cNvPr descr="preencoded.png" id="236" name="Google Shape;2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4743" y="2448520"/>
            <a:ext cx="3014305" cy="301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/>
          <p:nvPr/>
        </p:nvSpPr>
        <p:spPr>
          <a:xfrm>
            <a:off x="7464743" y="570214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Webcam Proctoring</a:t>
            </a:r>
            <a:endParaRPr b="0" i="0" sz="2200" u="none" cap="none" strike="noStrike"/>
          </a:p>
        </p:txBody>
      </p:sp>
      <p:sp>
        <p:nvSpPr>
          <p:cNvPr id="238" name="Google Shape;238;p22"/>
          <p:cNvSpPr/>
          <p:nvPr/>
        </p:nvSpPr>
        <p:spPr>
          <a:xfrm>
            <a:off x="7464743" y="6197679"/>
            <a:ext cx="301430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For enhanced security.</a:t>
            </a:r>
            <a:endParaRPr b="0" i="0" sz="1850" u="none" cap="none" strike="noStrike"/>
          </a:p>
        </p:txBody>
      </p:sp>
      <p:pic>
        <p:nvPicPr>
          <p:cNvPr descr="preencoded.png" id="239" name="Google Shape;2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78252" y="2448520"/>
            <a:ext cx="3014424" cy="301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/>
          <p:nvPr/>
        </p:nvSpPr>
        <p:spPr>
          <a:xfrm>
            <a:off x="10778252" y="570226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00"/>
              <a:buFont typeface="Quattrocento"/>
              <a:buNone/>
            </a:pPr>
            <a:r>
              <a:rPr b="0" i="0" lang="en-US" sz="22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Mobile Support</a:t>
            </a:r>
            <a:endParaRPr b="0" i="0" sz="2200" u="none" cap="none" strike="noStrike"/>
          </a:p>
        </p:txBody>
      </p:sp>
      <p:sp>
        <p:nvSpPr>
          <p:cNvPr id="241" name="Google Shape;241;p22"/>
          <p:cNvSpPr/>
          <p:nvPr/>
        </p:nvSpPr>
        <p:spPr>
          <a:xfrm>
            <a:off x="10778252" y="6197798"/>
            <a:ext cx="301442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Application for on-the-go access.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